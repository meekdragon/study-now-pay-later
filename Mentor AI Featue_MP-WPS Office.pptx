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72" r:id="rId1"/>
  </p:sldMasterIdLst>
  <p:notesMasterIdLst>
    <p:notesMasterId r:id="rId2"/>
  </p:notesMasterIdLst>
  <p:sldIdLst>
    <p:sldId id="260"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tableStyles" Target="tableStyle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7" name=""/>
        <p:cNvGrpSpPr/>
        <p:nvPr/>
      </p:nvGrpSpPr>
      <p:grpSpPr>
        <a:xfrm>
          <a:off x="0" y="0"/>
          <a:ext cx="0" cy="0"/>
          <a:chOff x="0" y="0"/>
          <a:chExt cx="0" cy="0"/>
        </a:xfrm>
      </p:grpSpPr>
      <p:sp>
        <p:nvSpPr>
          <p:cNvPr id="104864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4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4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4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4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4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4" name=""/>
        <p:cNvGrpSpPr/>
        <p:nvPr/>
      </p:nvGrpSpPr>
      <p:grpSpPr>
        <a:xfrm>
          <a:off x="0" y="0"/>
          <a:ext cx="0" cy="0"/>
          <a:chOff x="0" y="0"/>
          <a:chExt cx="0" cy="0"/>
        </a:xfrm>
      </p:grpSpPr>
      <p:sp>
        <p:nvSpPr>
          <p:cNvPr id="1048581"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582"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583"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8" name=""/>
        <p:cNvGrpSpPr/>
        <p:nvPr/>
      </p:nvGrpSpPr>
      <p:grpSpPr>
        <a:xfrm>
          <a:off x="0" y="0"/>
          <a:ext cx="0" cy="0"/>
          <a:chOff x="0" y="0"/>
          <a:chExt cx="0" cy="0"/>
        </a:xfrm>
      </p:grpSpPr>
      <p:sp>
        <p:nvSpPr>
          <p:cNvPr id="1048597" name="Title 1"/>
          <p:cNvSpPr>
            <a:spLocks noGrp="1"/>
          </p:cNvSpPr>
          <p:nvPr>
            <p:ph type="title"/>
          </p:nvPr>
        </p:nvSpPr>
        <p:spPr/>
        <p:txBody>
          <a:bodyPr/>
          <a:p>
            <a:r>
              <a:rPr altLang="zh-CN" lang="en-US" smtClean="0"/>
              <a:t>Click to edit Master title style</a:t>
            </a:r>
            <a:endParaRPr dirty="0" lang="en-US"/>
          </a:p>
        </p:txBody>
      </p:sp>
      <p:sp>
        <p:nvSpPr>
          <p:cNvPr id="1048598"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99"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00" name="Footer Placeholder 4"/>
          <p:cNvSpPr>
            <a:spLocks noGrp="1"/>
          </p:cNvSpPr>
          <p:nvPr>
            <p:ph type="ftr" sz="quarter" idx="11"/>
          </p:nvPr>
        </p:nvSpPr>
        <p:spPr/>
        <p:txBody>
          <a:bodyPr/>
          <a:p>
            <a:endParaRPr altLang="en-US" lang="zh-CN"/>
          </a:p>
        </p:txBody>
      </p:sp>
      <p:sp>
        <p:nvSpPr>
          <p:cNvPr id="1048601"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1" name=""/>
        <p:cNvGrpSpPr/>
        <p:nvPr/>
      </p:nvGrpSpPr>
      <p:grpSpPr>
        <a:xfrm>
          <a:off x="0" y="0"/>
          <a:ext cx="0" cy="0"/>
          <a:chOff x="0" y="0"/>
          <a:chExt cx="0" cy="0"/>
        </a:xfrm>
      </p:grpSpPr>
      <p:sp>
        <p:nvSpPr>
          <p:cNvPr id="1048613"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14"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15"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6" name="Footer Placeholder 4"/>
          <p:cNvSpPr>
            <a:spLocks noGrp="1"/>
          </p:cNvSpPr>
          <p:nvPr>
            <p:ph type="ftr" sz="quarter" idx="11"/>
          </p:nvPr>
        </p:nvSpPr>
        <p:spPr/>
        <p:txBody>
          <a:bodyPr/>
          <a:p>
            <a:endParaRPr altLang="en-US" lang="zh-CN"/>
          </a:p>
        </p:txBody>
      </p:sp>
      <p:sp>
        <p:nvSpPr>
          <p:cNvPr id="1048617"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2" name=""/>
        <p:cNvGrpSpPr/>
        <p:nvPr/>
      </p:nvGrpSpPr>
      <p:grpSpPr>
        <a:xfrm>
          <a:off x="0" y="0"/>
          <a:ext cx="0" cy="0"/>
          <a:chOff x="0" y="0"/>
          <a:chExt cx="0" cy="0"/>
        </a:xfrm>
      </p:grpSpPr>
      <p:sp>
        <p:nvSpPr>
          <p:cNvPr id="1048618" name="Title 1"/>
          <p:cNvSpPr>
            <a:spLocks noGrp="1"/>
          </p:cNvSpPr>
          <p:nvPr>
            <p:ph type="title"/>
          </p:nvPr>
        </p:nvSpPr>
        <p:spPr/>
        <p:txBody>
          <a:bodyPr/>
          <a:p>
            <a:r>
              <a:rPr altLang="zh-CN" lang="en-US" smtClean="0"/>
              <a:t>Click to edit Master title style</a:t>
            </a:r>
            <a:endParaRPr dirty="0" lang="en-US"/>
          </a:p>
        </p:txBody>
      </p:sp>
      <p:sp>
        <p:nvSpPr>
          <p:cNvPr id="1048619"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0"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1"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22" name="Footer Placeholder 5"/>
          <p:cNvSpPr>
            <a:spLocks noGrp="1"/>
          </p:cNvSpPr>
          <p:nvPr>
            <p:ph type="ftr" sz="quarter" idx="11"/>
          </p:nvPr>
        </p:nvSpPr>
        <p:spPr/>
        <p:txBody>
          <a:bodyPr/>
          <a:p>
            <a:endParaRPr altLang="en-US" lang="zh-CN"/>
          </a:p>
        </p:txBody>
      </p:sp>
      <p:sp>
        <p:nvSpPr>
          <p:cNvPr id="1048623"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3" name=""/>
        <p:cNvGrpSpPr/>
        <p:nvPr/>
      </p:nvGrpSpPr>
      <p:grpSpPr>
        <a:xfrm>
          <a:off x="0" y="0"/>
          <a:ext cx="0" cy="0"/>
          <a:chOff x="0" y="0"/>
          <a:chExt cx="0" cy="0"/>
        </a:xfrm>
      </p:grpSpPr>
      <p:sp>
        <p:nvSpPr>
          <p:cNvPr id="1048624"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25"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26"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7"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28"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9" name="Date Placeholder 6"/>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0" name="Footer Placeholder 7"/>
          <p:cNvSpPr>
            <a:spLocks noGrp="1"/>
          </p:cNvSpPr>
          <p:nvPr>
            <p:ph type="ftr" sz="quarter" idx="11"/>
          </p:nvPr>
        </p:nvSpPr>
        <p:spPr/>
        <p:txBody>
          <a:bodyPr/>
          <a:p>
            <a:endParaRPr altLang="en-US" lang="zh-CN"/>
          </a:p>
        </p:txBody>
      </p:sp>
      <p:sp>
        <p:nvSpPr>
          <p:cNvPr id="1048631" name="Slide Number Placeholder 8"/>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6" name=""/>
        <p:cNvGrpSpPr/>
        <p:nvPr/>
      </p:nvGrpSpPr>
      <p:grpSpPr>
        <a:xfrm>
          <a:off x="0" y="0"/>
          <a:ext cx="0" cy="0"/>
          <a:chOff x="0" y="0"/>
          <a:chExt cx="0" cy="0"/>
        </a:xfrm>
      </p:grpSpPr>
      <p:sp>
        <p:nvSpPr>
          <p:cNvPr id="1048588" name="Title 1"/>
          <p:cNvSpPr>
            <a:spLocks noGrp="1"/>
          </p:cNvSpPr>
          <p:nvPr>
            <p:ph type="title"/>
          </p:nvPr>
        </p:nvSpPr>
        <p:spPr/>
        <p:txBody>
          <a:bodyPr/>
          <a:p>
            <a:r>
              <a:rPr altLang="zh-CN" lang="en-US" smtClean="0"/>
              <a:t>Click to edit Master title style</a:t>
            </a:r>
            <a:endParaRPr dirty="0" lang="en-US"/>
          </a:p>
        </p:txBody>
      </p:sp>
      <p:sp>
        <p:nvSpPr>
          <p:cNvPr id="1048589" name="Date Placeholder 2"/>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90" name="Footer Placeholder 3"/>
          <p:cNvSpPr>
            <a:spLocks noGrp="1"/>
          </p:cNvSpPr>
          <p:nvPr>
            <p:ph type="ftr" sz="quarter" idx="11"/>
          </p:nvPr>
        </p:nvSpPr>
        <p:spPr/>
        <p:txBody>
          <a:bodyPr/>
          <a:p>
            <a:endParaRPr altLang="en-US" lang="zh-CN"/>
          </a:p>
        </p:txBody>
      </p:sp>
      <p:sp>
        <p:nvSpPr>
          <p:cNvPr id="1048591" name="Slide Number Placeholder 4"/>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4" name=""/>
        <p:cNvGrpSpPr/>
        <p:nvPr/>
      </p:nvGrpSpPr>
      <p:grpSpPr>
        <a:xfrm>
          <a:off x="0" y="0"/>
          <a:ext cx="0" cy="0"/>
          <a:chOff x="0" y="0"/>
          <a:chExt cx="0" cy="0"/>
        </a:xfrm>
      </p:grpSpPr>
      <p:sp>
        <p:nvSpPr>
          <p:cNvPr id="1048632" name="Date Placeholder 1"/>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3" name="Footer Placeholder 2"/>
          <p:cNvSpPr>
            <a:spLocks noGrp="1"/>
          </p:cNvSpPr>
          <p:nvPr>
            <p:ph type="ftr" sz="quarter" idx="11"/>
          </p:nvPr>
        </p:nvSpPr>
        <p:spPr/>
        <p:txBody>
          <a:bodyPr/>
          <a:p>
            <a:endParaRPr altLang="en-US" lang="zh-CN"/>
          </a:p>
        </p:txBody>
      </p:sp>
      <p:sp>
        <p:nvSpPr>
          <p:cNvPr id="1048634" name="Slide Number Placeholder 3"/>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5" name=""/>
        <p:cNvGrpSpPr/>
        <p:nvPr/>
      </p:nvGrpSpPr>
      <p:grpSpPr>
        <a:xfrm>
          <a:off x="0" y="0"/>
          <a:ext cx="0" cy="0"/>
          <a:chOff x="0" y="0"/>
          <a:chExt cx="0" cy="0"/>
        </a:xfrm>
      </p:grpSpPr>
      <p:sp>
        <p:nvSpPr>
          <p:cNvPr id="1048635"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36"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7"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38"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9" name="Footer Placeholder 5"/>
          <p:cNvSpPr>
            <a:spLocks noGrp="1"/>
          </p:cNvSpPr>
          <p:nvPr>
            <p:ph type="ftr" sz="quarter" idx="11"/>
          </p:nvPr>
        </p:nvSpPr>
        <p:spPr/>
        <p:txBody>
          <a:bodyPr/>
          <a:p>
            <a:endParaRPr altLang="en-US" lang="zh-CN"/>
          </a:p>
        </p:txBody>
      </p:sp>
      <p:sp>
        <p:nvSpPr>
          <p:cNvPr id="1048640"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9" name=""/>
        <p:cNvGrpSpPr/>
        <p:nvPr/>
      </p:nvGrpSpPr>
      <p:grpSpPr>
        <a:xfrm>
          <a:off x="0" y="0"/>
          <a:ext cx="0" cy="0"/>
          <a:chOff x="0" y="0"/>
          <a:chExt cx="0" cy="0"/>
        </a:xfrm>
      </p:grpSpPr>
      <p:sp>
        <p:nvSpPr>
          <p:cNvPr id="1048602"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03"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604"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05"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06" name="Footer Placeholder 5"/>
          <p:cNvSpPr>
            <a:spLocks noGrp="1"/>
          </p:cNvSpPr>
          <p:nvPr>
            <p:ph type="ftr" sz="quarter" idx="11"/>
          </p:nvPr>
        </p:nvSpPr>
        <p:spPr/>
        <p:txBody>
          <a:bodyPr/>
          <a:p>
            <a:endParaRPr altLang="en-US" lang="zh-CN"/>
          </a:p>
        </p:txBody>
      </p:sp>
      <p:sp>
        <p:nvSpPr>
          <p:cNvPr id="1048607"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0" name=""/>
        <p:cNvGrpSpPr/>
        <p:nvPr/>
      </p:nvGrpSpPr>
      <p:grpSpPr>
        <a:xfrm>
          <a:off x="0" y="0"/>
          <a:ext cx="0" cy="0"/>
          <a:chOff x="0" y="0"/>
          <a:chExt cx="0" cy="0"/>
        </a:xfrm>
      </p:grpSpPr>
      <p:sp>
        <p:nvSpPr>
          <p:cNvPr id="1048608" name="Title 1"/>
          <p:cNvSpPr>
            <a:spLocks noGrp="1"/>
          </p:cNvSpPr>
          <p:nvPr>
            <p:ph type="title"/>
          </p:nvPr>
        </p:nvSpPr>
        <p:spPr/>
        <p:txBody>
          <a:bodyPr/>
          <a:p>
            <a:r>
              <a:rPr altLang="zh-CN" lang="en-US" smtClean="0"/>
              <a:t>Click to edit Master title style</a:t>
            </a:r>
            <a:endParaRPr dirty="0" lang="en-US"/>
          </a:p>
        </p:txBody>
      </p:sp>
      <p:sp>
        <p:nvSpPr>
          <p:cNvPr id="1048609"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10"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1" name="Footer Placeholder 4"/>
          <p:cNvSpPr>
            <a:spLocks noGrp="1"/>
          </p:cNvSpPr>
          <p:nvPr>
            <p:ph type="ftr" sz="quarter" idx="11"/>
          </p:nvPr>
        </p:nvSpPr>
        <p:spPr/>
        <p:txBody>
          <a:bodyPr/>
          <a:p>
            <a:endParaRPr altLang="en-US" lang="zh-CN"/>
          </a:p>
        </p:txBody>
      </p:sp>
      <p:sp>
        <p:nvSpPr>
          <p:cNvPr id="1048612"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7" name=""/>
        <p:cNvGrpSpPr/>
        <p:nvPr/>
      </p:nvGrpSpPr>
      <p:grpSpPr>
        <a:xfrm>
          <a:off x="0" y="0"/>
          <a:ext cx="0" cy="0"/>
          <a:chOff x="0" y="0"/>
          <a:chExt cx="0" cy="0"/>
        </a:xfrm>
      </p:grpSpPr>
      <p:sp>
        <p:nvSpPr>
          <p:cNvPr id="1048592"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593"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94"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95" name="Footer Placeholder 4"/>
          <p:cNvSpPr>
            <a:spLocks noGrp="1"/>
          </p:cNvSpPr>
          <p:nvPr>
            <p:ph type="ftr" sz="quarter" idx="11"/>
          </p:nvPr>
        </p:nvSpPr>
        <p:spPr/>
        <p:txBody>
          <a:bodyPr/>
          <a:p>
            <a:endParaRPr altLang="en-US" lang="zh-CN"/>
          </a:p>
        </p:txBody>
      </p:sp>
      <p:sp>
        <p:nvSpPr>
          <p:cNvPr id="1048596"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t>2015/5/12</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 name=""/>
        <p:cNvGrpSpPr/>
        <p:nvPr/>
      </p:nvGrpSpPr>
      <p:grpSpPr>
        <a:xfrm>
          <a:off x="0" y="0"/>
          <a:ext cx="0" cy="0"/>
          <a:chOff x="0" y="0"/>
          <a:chExt cx="0" cy="0"/>
        </a:xfrm>
      </p:grpSpPr>
      <p:sp>
        <p:nvSpPr>
          <p:cNvPr id="1048586" name="Title 1"/>
          <p:cNvSpPr>
            <a:spLocks noGrp="1"/>
          </p:cNvSpPr>
          <p:nvPr>
            <p:ph type="ctrTitle"/>
          </p:nvPr>
        </p:nvSpPr>
        <p:spPr/>
        <p:txBody>
          <a:bodyPr/>
          <a:p>
            <a:r>
              <a:rPr altLang="zh-CN" lang="en-US"/>
              <a:t>M</a:t>
            </a:r>
            <a:r>
              <a:rPr altLang="zh-CN" lang="en-US"/>
              <a:t>e</a:t>
            </a:r>
            <a:r>
              <a:rPr altLang="zh-CN" lang="en-US"/>
              <a:t>n</a:t>
            </a:r>
            <a:r>
              <a:rPr altLang="zh-CN" lang="en-US"/>
              <a:t>t</a:t>
            </a:r>
            <a:r>
              <a:rPr altLang="zh-CN" lang="en-US"/>
              <a:t>o</a:t>
            </a:r>
            <a:r>
              <a:rPr altLang="zh-CN" lang="en-US"/>
              <a:t>r</a:t>
            </a:r>
            <a:r>
              <a:rPr altLang="zh-CN" lang="en-US"/>
              <a:t> </a:t>
            </a:r>
            <a:r>
              <a:rPr altLang="zh-CN" lang="en-US"/>
              <a:t>A</a:t>
            </a:r>
            <a:r>
              <a:rPr altLang="zh-CN" lang="en-US"/>
              <a:t>I</a:t>
            </a:r>
            <a:r>
              <a:rPr altLang="zh-CN" lang="en-US"/>
              <a:t> </a:t>
            </a:r>
            <a:r>
              <a:rPr altLang="zh-CN" lang="en-US"/>
              <a:t>F</a:t>
            </a:r>
            <a:r>
              <a:rPr altLang="zh-CN" lang="en-US"/>
              <a:t>e</a:t>
            </a:r>
            <a:r>
              <a:rPr altLang="zh-CN" lang="en-US"/>
              <a:t>a</a:t>
            </a:r>
            <a:r>
              <a:rPr altLang="zh-CN" lang="en-US"/>
              <a:t>ture </a:t>
            </a:r>
            <a:endParaRPr altLang="zh-CN"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47" name=""/>
          <p:cNvSpPr>
            <a:spLocks noGrp="1"/>
          </p:cNvSpPr>
          <p:nvPr>
            <p:ph type="title"/>
          </p:nvPr>
        </p:nvSpPr>
        <p:spPr/>
        <p:txBody>
          <a:bodyPr/>
          <a:p>
            <a:r>
              <a:rPr lang="en-US"/>
              <a:t>U</a:t>
            </a:r>
            <a:r>
              <a:rPr lang="en-US"/>
              <a:t>S</a:t>
            </a:r>
            <a:r>
              <a:rPr lang="en-US"/>
              <a:t>E</a:t>
            </a:r>
            <a:r>
              <a:rPr lang="en-US"/>
              <a:t>R</a:t>
            </a:r>
            <a:r>
              <a:rPr lang="en-US"/>
              <a:t> </a:t>
            </a:r>
            <a:r>
              <a:rPr lang="en-US"/>
              <a:t>I</a:t>
            </a:r>
            <a:r>
              <a:rPr lang="en-US"/>
              <a:t>N</a:t>
            </a:r>
            <a:r>
              <a:rPr lang="en-US"/>
              <a:t>P</a:t>
            </a:r>
            <a:r>
              <a:rPr lang="en-US"/>
              <a:t>UT </a:t>
            </a:r>
            <a:endParaRPr lang="en-US"/>
          </a:p>
        </p:txBody>
      </p:sp>
      <p:sp>
        <p:nvSpPr>
          <p:cNvPr id="1048648" name=""/>
          <p:cNvSpPr>
            <a:spLocks noGrp="1"/>
          </p:cNvSpPr>
          <p:nvPr>
            <p:ph idx="1"/>
          </p:nvPr>
        </p:nvSpPr>
        <p:spPr/>
        <p:txBody>
          <a:bodyPr/>
          <a:p>
            <a:pPr indent="0" marL="0">
              <a:buNone/>
            </a:pPr>
            <a:endParaRPr lang="en-US"/>
          </a:p>
          <a:p>
            <a:r>
              <a:rPr lang="en-US"/>
              <a:t>First, we’ll create an interface where users can type in their learning goal, like "I want to learn Python" or "How do I start with data science?"</a:t>
            </a:r>
            <a:endParaRPr lang="en-US"/>
          </a:p>
          <a:p>
            <a:r>
              <a:rPr lang="en-US"/>
              <a:t>The AI will then process that input, even if it’s a little messy or imprecise. For example, if someone types "learn python coding," it will understand that they're looking to learn Python programming.</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49" name=""/>
          <p:cNvSpPr>
            <a:spLocks noGrp="1"/>
          </p:cNvSpPr>
          <p:nvPr>
            <p:ph type="title"/>
          </p:nvPr>
        </p:nvSpPr>
        <p:spPr/>
        <p:txBody>
          <a:bodyPr/>
          <a:p>
            <a:r>
              <a:rPr lang="en-US"/>
              <a:t>AI Interpretation</a:t>
            </a:r>
            <a:endParaRPr lang="en-US"/>
          </a:p>
        </p:txBody>
      </p:sp>
      <p:sp>
        <p:nvSpPr>
          <p:cNvPr id="1048650" name=""/>
          <p:cNvSpPr>
            <a:spLocks noGrp="1"/>
          </p:cNvSpPr>
          <p:nvPr>
            <p:ph idx="1"/>
          </p:nvPr>
        </p:nvSpPr>
        <p:spPr/>
        <p:txBody>
          <a:bodyPr/>
          <a:p>
            <a:r>
              <a:rPr lang="en-US"/>
              <a:t>We’ll use NLP (Natural Language Processing) to interpret the user’s goal and figure out what they really want to learn. We might also use some pre-built tools like DialogFlow or GPT for this part. The AI will be able to recognize things like their experience level (beginner, intermediate, advanced) and the specific subtopics they’re interested in.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51" name=""/>
          <p:cNvSpPr>
            <a:spLocks noGrp="1"/>
          </p:cNvSpPr>
          <p:nvPr>
            <p:ph type="title"/>
          </p:nvPr>
        </p:nvSpPr>
        <p:spPr/>
        <p:txBody>
          <a:bodyPr/>
          <a:p>
            <a:r>
              <a:rPr lang="en-US"/>
              <a:t>Building the Learning Roadmap</a:t>
            </a:r>
            <a:endParaRPr lang="en-US"/>
          </a:p>
        </p:txBody>
      </p:sp>
      <p:sp>
        <p:nvSpPr>
          <p:cNvPr id="1048652" name=""/>
          <p:cNvSpPr>
            <a:spLocks noGrp="1"/>
          </p:cNvSpPr>
          <p:nvPr>
            <p:ph idx="1"/>
          </p:nvPr>
        </p:nvSpPr>
        <p:spPr/>
        <p:txBody>
          <a:bodyPr>
            <a:normAutofit/>
          </a:bodyPr>
          <a:p>
            <a:r>
              <a:rPr lang="en-US"/>
              <a:t>Once we have a clear understanding of what they want to learn, the AI will generate a roadmap. This will be a structured path with topics or skills they need to master. For example, if someone wants to learn web development, the roadmap could look something like:</a:t>
            </a:r>
            <a:endParaRPr lang="en-US"/>
          </a:p>
          <a:p>
            <a:r>
              <a:rPr lang="en-US"/>
              <a:t>Learn HTML</a:t>
            </a:r>
            <a:endParaRPr lang="en-US"/>
          </a:p>
          <a:p>
            <a:r>
              <a:rPr lang="en-US"/>
              <a:t>Learn CSS</a:t>
            </a:r>
            <a:endParaRPr lang="en-US"/>
          </a:p>
          <a:p>
            <a:r>
              <a:rPr lang="en-US"/>
              <a:t>Learn JavaScript</a:t>
            </a:r>
            <a:endParaRPr lang="en-US"/>
          </a:p>
          <a:p>
            <a:r>
              <a:rPr lang="en-US"/>
              <a:t>Learn React</a:t>
            </a:r>
            <a:endParaRPr lang="en-US"/>
          </a:p>
          <a:p>
            <a:r>
              <a:rPr lang="en-US"/>
              <a:t>Dive into Node.js or Full-stack development.</a:t>
            </a:r>
            <a:endParaRPr 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54" name=""/>
          <p:cNvSpPr>
            <a:spLocks noGrp="1"/>
          </p:cNvSpPr>
          <p:nvPr>
            <p:ph idx="1"/>
          </p:nvPr>
        </p:nvSpPr>
        <p:spPr/>
        <p:txBody>
          <a:bodyPr/>
          <a:p>
            <a:r>
              <a:rPr lang="en-US"/>
              <a:t>It will also suggest the best resources (like books, tutorials, or courses) for each topic, so the user can progress step by step.</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55" name=""/>
          <p:cNvSpPr>
            <a:spLocks noGrp="1"/>
          </p:cNvSpPr>
          <p:nvPr>
            <p:ph type="title"/>
          </p:nvPr>
        </p:nvSpPr>
        <p:spPr/>
        <p:txBody>
          <a:bodyPr/>
          <a:p>
            <a:r>
              <a:rPr lang="en-US"/>
              <a:t>Suggesting Resources</a:t>
            </a:r>
            <a:endParaRPr lang="en-US"/>
          </a:p>
        </p:txBody>
      </p:sp>
      <p:sp>
        <p:nvSpPr>
          <p:cNvPr id="1048656" name=""/>
          <p:cNvSpPr>
            <a:spLocks noGrp="1"/>
          </p:cNvSpPr>
          <p:nvPr>
            <p:ph idx="1"/>
          </p:nvPr>
        </p:nvSpPr>
        <p:spPr/>
        <p:txBody>
          <a:bodyPr/>
          <a:p>
            <a:r>
              <a:rPr lang="en-US"/>
              <a:t>For each step in the roadmap, we’ll pull in resources from different places—things like free online courses, videos, books, and articles.</a:t>
            </a:r>
            <a:endParaRPr lang="en-US"/>
          </a:p>
          <a:p>
            <a:r>
              <a:rPr lang="en-US"/>
              <a:t>We plan to use APIs (like those from Coursera, edX, or YouTube) to gather data and show the user options for each topic. We also want to include reviews and ratings from people who’ve used those resources, so they can make an informed decision about which ones to choose.</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57" name=""/>
          <p:cNvSpPr>
            <a:spLocks noGrp="1"/>
          </p:cNvSpPr>
          <p:nvPr>
            <p:ph type="title"/>
          </p:nvPr>
        </p:nvSpPr>
        <p:spPr/>
        <p:txBody>
          <a:bodyPr/>
          <a:p>
            <a:r>
              <a:rPr lang="en-US"/>
              <a:t>Rating System</a:t>
            </a:r>
            <a:endParaRPr lang="en-US"/>
          </a:p>
        </p:txBody>
      </p:sp>
      <p:sp>
        <p:nvSpPr>
          <p:cNvPr id="1048658" name=""/>
          <p:cNvSpPr>
            <a:spLocks noGrp="1"/>
          </p:cNvSpPr>
          <p:nvPr>
            <p:ph idx="1"/>
          </p:nvPr>
        </p:nvSpPr>
        <p:spPr/>
        <p:txBody>
          <a:bodyPr/>
          <a:p>
            <a:r>
              <a:rPr lang="en-US"/>
              <a:t>We want users to be able to rate the resources they’ve used. After they complete a step, they can leave a review or rating, which will help future users find the best content.</a:t>
            </a:r>
            <a:endParaRPr lang="en-US"/>
          </a:p>
          <a:p>
            <a:r>
              <a:rPr lang="en-US"/>
              <a:t>For external resources (like a course on Udemy), we’ll aggregate ratings from across the web and show the average rating. The AI will also be able to prioritize the highest-rated resources, so the user doesn’t waste time with low-quality content.</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59" name=""/>
          <p:cNvSpPr>
            <a:spLocks noGrp="1"/>
          </p:cNvSpPr>
          <p:nvPr>
            <p:ph type="title"/>
          </p:nvPr>
        </p:nvSpPr>
        <p:spPr/>
        <p:txBody>
          <a:bodyPr/>
          <a:p>
            <a:r>
              <a:rPr lang="en-US"/>
              <a:t>Tech Stack</a:t>
            </a:r>
            <a:endParaRPr lang="en-US"/>
          </a:p>
        </p:txBody>
      </p:sp>
      <p:sp>
        <p:nvSpPr>
          <p:cNvPr id="1048660" name=""/>
          <p:cNvSpPr>
            <a:spLocks noGrp="1"/>
          </p:cNvSpPr>
          <p:nvPr>
            <p:ph idx="1"/>
          </p:nvPr>
        </p:nvSpPr>
        <p:spPr/>
        <p:txBody>
          <a:bodyPr/>
          <a:p>
            <a:r>
              <a:rPr lang="en-US"/>
              <a:t>For the front-end, we plan to use a framework like React, which will allow users to easily interact with the site and get dynamic feedback.</a:t>
            </a:r>
            <a:endParaRPr lang="en-US"/>
          </a:p>
          <a:p>
            <a:r>
              <a:rPr lang="en-US"/>
              <a:t>On the backend, we’ll use something like Node.js or Django to handle the AI's processing and manage user data.</a:t>
            </a:r>
            <a:endParaRPr lang="en-US"/>
          </a:p>
          <a:p>
            <a:r>
              <a:rPr lang="en-US"/>
              <a:t>For the AI itself, we’re thinking of using an NLP model (probably something like GPT or an API-based model) to understand user queries and create personalized learning paths.</a:t>
            </a:r>
            <a:endParaRPr lang="en-US"/>
          </a:p>
          <a:p>
            <a:r>
              <a:rPr lang="en-US"/>
              <a:t>We’ll also need a database (like MongoDB or PostgreSQL) to store user progress, ratings, and recommended resources.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61" name=""/>
          <p:cNvSpPr>
            <a:spLocks noGrp="1"/>
          </p:cNvSpPr>
          <p:nvPr>
            <p:ph type="title"/>
          </p:nvPr>
        </p:nvSpPr>
        <p:spPr/>
        <p:txBody>
          <a:bodyPr/>
          <a:p>
            <a:r>
              <a:rPr lang="en-US"/>
              <a:t>SmartSchedule</a:t>
            </a:r>
            <a:endParaRPr lang="en-US"/>
          </a:p>
        </p:txBody>
      </p:sp>
      <p:sp>
        <p:nvSpPr>
          <p:cNvPr id="1048662" name=""/>
          <p:cNvSpPr>
            <a:spLocks noGrp="1"/>
          </p:cNvSpPr>
          <p:nvPr>
            <p:ph type="body" idx="1"/>
          </p:nvPr>
        </p:nvSpPr>
        <p:spPr/>
        <p:txBody>
          <a:bodyPr/>
          <a:p>
            <a:r>
              <a:rPr lang="en-US"/>
              <a:t>Highlights the intelligent scheduling aspect, where the AI crafts a tailored timetable for the learning journey.</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63" name=""/>
          <p:cNvSpPr>
            <a:spLocks noGrp="1"/>
          </p:cNvSpPr>
          <p:nvPr>
            <p:ph type="title"/>
          </p:nvPr>
        </p:nvSpPr>
        <p:spPr/>
        <p:txBody>
          <a:bodyPr/>
          <a:p>
            <a:r>
              <a:rPr lang="en-US"/>
              <a:t>User Time Input</a:t>
            </a:r>
            <a:endParaRPr lang="en-US"/>
          </a:p>
        </p:txBody>
      </p:sp>
      <p:sp>
        <p:nvSpPr>
          <p:cNvPr id="1048664" name=""/>
          <p:cNvSpPr>
            <a:spLocks noGrp="1"/>
          </p:cNvSpPr>
          <p:nvPr>
            <p:ph idx="1"/>
          </p:nvPr>
        </p:nvSpPr>
        <p:spPr/>
        <p:txBody>
          <a:bodyPr/>
          <a:p>
            <a:r>
              <a:rPr lang="en-US"/>
              <a:t>Time Frame: Users will input how much time they can dedicate to learning. For example, they could specify, "I have 3 months," or "I can spend 2 hours per day."</a:t>
            </a:r>
            <a:endParaRPr lang="en-US"/>
          </a:p>
          <a:p>
            <a:r>
              <a:rPr lang="en-US"/>
              <a:t>Time Constraints: The AI will also ask questions to refine the schedule, such as:</a:t>
            </a:r>
            <a:endParaRPr lang="en-US"/>
          </a:p>
          <a:p>
            <a:r>
              <a:rPr lang="en-US"/>
              <a:t>Do you prefer shorter sessions, or can you handle longer blocks of focused study time?</a:t>
            </a:r>
            <a:endParaRPr lang="en-US"/>
          </a:p>
          <a:p>
            <a:r>
              <a:rPr lang="en-US"/>
              <a:t>What days of the week are you free to study, or are there particular times of day that work best for you?</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65" name=""/>
          <p:cNvSpPr>
            <a:spLocks noGrp="1"/>
          </p:cNvSpPr>
          <p:nvPr>
            <p:ph type="title"/>
          </p:nvPr>
        </p:nvSpPr>
        <p:spPr/>
        <p:txBody>
          <a:bodyPr/>
          <a:p>
            <a:r>
              <a:rPr lang="en-US"/>
              <a:t>AI Personalization Based on Time</a:t>
            </a:r>
            <a:endParaRPr lang="en-US"/>
          </a:p>
        </p:txBody>
      </p:sp>
      <p:sp>
        <p:nvSpPr>
          <p:cNvPr id="1048666" name=""/>
          <p:cNvSpPr>
            <a:spLocks noGrp="1"/>
          </p:cNvSpPr>
          <p:nvPr>
            <p:ph idx="1"/>
          </p:nvPr>
        </p:nvSpPr>
        <p:spPr/>
        <p:txBody>
          <a:bodyPr/>
          <a:p>
            <a:r>
              <a:rPr lang="en-US"/>
              <a:t>Pacing the Roadmap: Based on the time frame provided, the AI will break down the learning journey into manageable, bite-sized chunks.</a:t>
            </a:r>
            <a:endParaRPr lang="en-US"/>
          </a:p>
          <a:p>
            <a:r>
              <a:rPr lang="en-US"/>
              <a:t>For instance, if the user has three months to learn web development, the AI might break the curriculum into weeks, with specific topics to cover each week, and goals to hit at the end of each month.</a:t>
            </a:r>
            <a:endParaRPr lang="en-US"/>
          </a:p>
          <a:p>
            <a:r>
              <a:rPr lang="en-US"/>
              <a:t>Daily/Weekly Time Allocation: The AI can generate a daily or weekly study plan that fits the user’s available hours. If the user has more time on weekends, it can schedule heavier tasks or deeper</a:t>
            </a:r>
            <a:r>
              <a:rPr lang="en-US"/>
              <a:t> </a:t>
            </a:r>
            <a:r>
              <a:rPr lang="en-US"/>
              <a:t>study sessions then, with lighter tasks during weekdays.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7" name=""/>
          <p:cNvSpPr>
            <a:spLocks noGrp="1"/>
          </p:cNvSpPr>
          <p:nvPr>
            <p:ph type="title"/>
          </p:nvPr>
        </p:nvSpPr>
        <p:spPr/>
        <p:txBody>
          <a:bodyPr/>
          <a:p>
            <a:r>
              <a:rPr lang="en-US"/>
              <a:t>Dynamic Timetable Generation</a:t>
            </a:r>
            <a:endParaRPr lang="en-US"/>
          </a:p>
        </p:txBody>
      </p:sp>
      <p:sp>
        <p:nvSpPr>
          <p:cNvPr id="1048668" name=""/>
          <p:cNvSpPr>
            <a:spLocks noGrp="1"/>
          </p:cNvSpPr>
          <p:nvPr>
            <p:ph idx="1"/>
          </p:nvPr>
        </p:nvSpPr>
        <p:spPr/>
        <p:txBody>
          <a:bodyPr>
            <a:normAutofit/>
          </a:bodyPr>
          <a:p>
            <a:r>
              <a:rPr lang="en-US"/>
              <a:t>Time Table Creation: The AI will auto-generate a personalized timetable based on the roadmap, ensuring each user has a clear outline of when to study and what to focus on. The timetable will:</a:t>
            </a:r>
            <a:endParaRPr lang="en-US"/>
          </a:p>
          <a:p>
            <a:r>
              <a:rPr lang="en-US"/>
              <a:t>Specify the topic or skill to be learned each day.</a:t>
            </a:r>
            <a:endParaRPr lang="en-US"/>
          </a:p>
          <a:p>
            <a:r>
              <a:rPr lang="en-US"/>
              <a:t>Suggest the best resources (videos, books, tutorials) for that session.</a:t>
            </a:r>
            <a:endParaRPr lang="en-US"/>
          </a:p>
          <a:p>
            <a:r>
              <a:rPr lang="en-US"/>
              <a:t>Allocate the approximate time required for each task.</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70" name=""/>
          <p:cNvSpPr>
            <a:spLocks noGrp="1"/>
          </p:cNvSpPr>
          <p:nvPr>
            <p:ph idx="1"/>
          </p:nvPr>
        </p:nvSpPr>
        <p:spPr/>
        <p:txBody>
          <a:bodyPr/>
          <a:p>
            <a:r>
              <a:rPr lang="en-US"/>
              <a:t>Adjustable Timetable: If a user needs more time for a certain topic or if they finish ahead of schedule, the AI will adapt the plan, adjusting future sessions accordingly.</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71" name=""/>
          <p:cNvSpPr>
            <a:spLocks noGrp="1"/>
          </p:cNvSpPr>
          <p:nvPr>
            <p:ph type="title"/>
          </p:nvPr>
        </p:nvSpPr>
        <p:spPr/>
        <p:txBody>
          <a:bodyPr/>
          <a:p>
            <a:r>
              <a:rPr lang="en-US"/>
              <a:t>Time-Optimized Resources</a:t>
            </a:r>
            <a:endParaRPr lang="en-US"/>
          </a:p>
        </p:txBody>
      </p:sp>
      <p:sp>
        <p:nvSpPr>
          <p:cNvPr id="1048672" name=""/>
          <p:cNvSpPr>
            <a:spLocks noGrp="1"/>
          </p:cNvSpPr>
          <p:nvPr>
            <p:ph idx="1"/>
          </p:nvPr>
        </p:nvSpPr>
        <p:spPr/>
        <p:txBody>
          <a:bodyPr/>
          <a:p>
            <a:r>
              <a:rPr lang="en-US"/>
              <a:t>The AI will prioritize resources that fit the user’s available study time. If the user has just 30 minutes, the AI will suggest shorter resources like quick tutorials or bite-sized videos. For longer sessions, it might recommend more in-depth courses or articles.</a:t>
            </a:r>
            <a:endParaRPr lang="en-US"/>
          </a:p>
          <a:p>
            <a:r>
              <a:rPr lang="en-US"/>
              <a:t>Focus on Efficiency: The system will aim to suggest high-quality, time-efficient resources so users can get the most value out of their learning time.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73" name=""/>
          <p:cNvSpPr>
            <a:spLocks noGrp="1"/>
          </p:cNvSpPr>
          <p:nvPr>
            <p:ph type="title"/>
          </p:nvPr>
        </p:nvSpPr>
        <p:spPr/>
        <p:txBody>
          <a:bodyPr/>
          <a:p>
            <a:r>
              <a:rPr lang="en-US"/>
              <a:t>D</a:t>
            </a:r>
            <a:r>
              <a:rPr lang="en-US"/>
              <a:t>e</a:t>
            </a:r>
            <a:r>
              <a:rPr lang="en-US"/>
              <a:t>m</a:t>
            </a:r>
            <a:r>
              <a:rPr lang="en-US"/>
              <a:t>o</a:t>
            </a:r>
            <a:endParaRPr lang="en-US"/>
          </a:p>
        </p:txBody>
      </p:sp>
      <p:sp>
        <p:nvSpPr>
          <p:cNvPr id="1048674" name=""/>
          <p:cNvSpPr>
            <a:spLocks noGrp="1"/>
          </p:cNvSpPr>
          <p:nvPr>
            <p:ph idx="1"/>
          </p:nvPr>
        </p:nvSpPr>
        <p:spPr/>
        <p:txBody>
          <a:bodyPr>
            <a:normAutofit fontScale="96429"/>
          </a:bodyPr>
          <a:p>
            <a:r>
              <a:rPr lang="en-US"/>
              <a:t>User Input</a:t>
            </a:r>
            <a:endParaRPr lang="en-US"/>
          </a:p>
          <a:p>
            <a:r>
              <a:rPr lang="en-US"/>
              <a:t>Learning Goal: "I want to learn web development."</a:t>
            </a:r>
            <a:endParaRPr lang="en-US"/>
          </a:p>
          <a:p>
            <a:r>
              <a:rPr lang="en-US"/>
              <a:t>Time Frame: "I have 3 months to dedicate to this."</a:t>
            </a:r>
            <a:endParaRPr lang="en-US"/>
          </a:p>
          <a:p>
            <a:endParaRPr lang="en-US"/>
          </a:p>
          <a:p>
            <a:r>
              <a:rPr lang="en-US"/>
              <a:t>Availability:</a:t>
            </a:r>
            <a:endParaRPr lang="en-US"/>
          </a:p>
          <a:p>
            <a:r>
              <a:rPr lang="en-US"/>
              <a:t>"I can study 2 hours per day."</a:t>
            </a:r>
            <a:endParaRPr lang="en-US"/>
          </a:p>
          <a:p>
            <a:r>
              <a:rPr lang="en-US"/>
              <a:t>"I am available to study in the evenings, Monday to Friday, and I have 4 hours on weekends."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75" name=""/>
          <p:cNvSpPr>
            <a:spLocks noGrp="1"/>
          </p:cNvSpPr>
          <p:nvPr>
            <p:ph type="title"/>
          </p:nvPr>
        </p:nvSpPr>
        <p:spPr/>
        <p:txBody>
          <a:bodyPr/>
          <a:p>
            <a:r>
              <a:rPr lang="en-US"/>
              <a:t>Output (Personalized Learning Roadmap &amp; Timetable)</a:t>
            </a:r>
            <a:endParaRPr lang="en-US"/>
          </a:p>
        </p:txBody>
      </p:sp>
      <p:sp>
        <p:nvSpPr>
          <p:cNvPr id="1048676" name=""/>
          <p:cNvSpPr>
            <a:spLocks noGrp="1"/>
          </p:cNvSpPr>
          <p:nvPr>
            <p:ph idx="1"/>
          </p:nvPr>
        </p:nvSpPr>
        <p:spPr/>
        <p:txBody>
          <a:bodyPr/>
          <a:p>
            <a:r>
              <a:rPr lang="en-US"/>
              <a:t>Week 1-2: HTML &amp; CSS (Fundamentals)</a:t>
            </a:r>
            <a:endParaRPr lang="en-US"/>
          </a:p>
          <a:p>
            <a:r>
              <a:rPr lang="en-US"/>
              <a:t>Goal: Learn the basics of web structure and styling.</a:t>
            </a:r>
            <a:endParaRPr lang="en-US"/>
          </a:p>
          <a:p>
            <a:r>
              <a:rPr lang="en-US"/>
              <a:t>Time Allocation: 2 hours/day (weekdays) + 4 hours/weekend.</a:t>
            </a:r>
            <a:endParaRPr lang="en-US"/>
          </a:p>
          <a:p>
            <a:r>
              <a:rPr lang="en-US"/>
              <a:t>Monday - Friday: 1 hour of reading and tutorials, 1 hour of practice.</a:t>
            </a:r>
            <a:endParaRPr lang="en-US"/>
          </a:p>
          <a:p>
            <a:r>
              <a:rPr lang="en-US"/>
              <a:t>Saturday: 2 hours of hands-on project work (build a basic webpage).</a:t>
            </a:r>
            <a:endParaRPr lang="en-US"/>
          </a:p>
          <a:p>
            <a:r>
              <a:rPr lang="en-US"/>
              <a:t>Sunday: 2 hours of reviewing concepts, completing a mini-project (e.g., a personal portfolio homepage).</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77" name=""/>
          <p:cNvSpPr>
            <a:spLocks noGrp="1"/>
          </p:cNvSpPr>
          <p:nvPr>
            <p:ph type="title"/>
          </p:nvPr>
        </p:nvSpPr>
        <p:spPr/>
        <p:txBody>
          <a:bodyPr/>
          <a:p>
            <a:r>
              <a:rPr lang="en-US"/>
              <a:t>Example of Timetable Breakdown</a:t>
            </a:r>
            <a:endParaRPr lang="en-US"/>
          </a:p>
        </p:txBody>
      </p:sp>
      <p:sp>
        <p:nvSpPr>
          <p:cNvPr id="1048678" name=""/>
          <p:cNvSpPr>
            <a:spLocks noGrp="1"/>
          </p:cNvSpPr>
          <p:nvPr>
            <p:ph idx="1"/>
          </p:nvPr>
        </p:nvSpPr>
        <p:spPr/>
        <p:txBody>
          <a:bodyPr>
            <a:normAutofit/>
          </a:bodyPr>
          <a:p>
            <a:pPr indent="0" marL="0">
              <a:buNone/>
            </a:pPr>
            <a:endParaRPr lang="en-US"/>
          </a:p>
          <a:p>
            <a:r>
              <a:rPr lang="en-US"/>
              <a:t>Week 1</a:t>
            </a:r>
            <a:endParaRPr lang="en-US"/>
          </a:p>
          <a:p>
            <a:r>
              <a:rPr lang="en-US"/>
              <a:t>Monday: HTML Introduction (1hr theory), Practice (1hr)</a:t>
            </a:r>
            <a:endParaRPr lang="en-US"/>
          </a:p>
          <a:p>
            <a:r>
              <a:rPr lang="en-US"/>
              <a:t>Tuesday: CSS Introduction (1hr theory), Practice (1hr)</a:t>
            </a:r>
            <a:endParaRPr lang="en-US"/>
          </a:p>
          <a:p>
            <a:r>
              <a:rPr lang="en-US"/>
              <a:t>Wednesday: HTML &amp; CSS Practice (1hr), Build Simple Layout (1hr)</a:t>
            </a:r>
            <a:endParaRPr lang="en-US"/>
          </a:p>
          <a:p>
            <a:r>
              <a:rPr lang="en-US"/>
              <a:t>Thursday: Responsive Design Basics (1hr theory), Build Responsive Page (1hr)</a:t>
            </a:r>
            <a:endParaRPr lang="en-US"/>
          </a:p>
          <a:p>
            <a:r>
              <a:rPr lang="en-US"/>
              <a:t>Friday: HTML/CSS Quiz &amp; Review (1hr), Project work (1hr)</a:t>
            </a:r>
            <a:endParaRPr lang="en-US"/>
          </a:p>
          <a:p>
            <a:r>
              <a:rPr lang="en-US"/>
              <a:t>Saturday: Portfolio Website (2hr hands-on work)</a:t>
            </a:r>
            <a:endParaRPr lang="en-US"/>
          </a:p>
          <a:p>
            <a:r>
              <a:rPr lang="en-US"/>
              <a:t>Sunday: Review and refine Portfolio (2hr project work)</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RMX3081</dc:creator>
  <dcterms:created xsi:type="dcterms:W3CDTF">2015-05-11T22:30:45Z</dcterms:created>
  <dcterms:modified xsi:type="dcterms:W3CDTF">2024-11-08T08:12:31Z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e8659ad7a3b449d38bf0d7093a92ef1a</vt:lpwstr>
  </property>
</Properties>
</file>